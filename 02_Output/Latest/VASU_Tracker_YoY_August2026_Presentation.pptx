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Same-Period Performance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606060"/>
            </a:solidFill>
          </c:spPr>
          <c:cat>
            <c:strRef>
              <c:f>Sheet1!$A$2:$A$5</c:f>
              <c:strCache>
                <c:ptCount val="4"/>
                <c:pt idx="0">
                  <c:v>Additions</c:v>
                </c:pt>
                <c:pt idx="1">
                  <c:v>Completed</c:v>
                </c:pt>
                <c:pt idx="2">
                  <c:v>Lost</c:v>
                </c:pt>
                <c:pt idx="3">
                  <c:v>Held Up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87.0</c:v>
                </c:pt>
                <c:pt idx="1">
                  <c:v>39.0</c:v>
                </c:pt>
                <c:pt idx="2">
                  <c:v>9.0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F4E78"/>
            </a:solidFill>
          </c:spPr>
          <c:cat>
            <c:strRef>
              <c:f>Sheet1!$A$2:$A$5</c:f>
              <c:strCache>
                <c:ptCount val="4"/>
                <c:pt idx="0">
                  <c:v>Additions</c:v>
                </c:pt>
                <c:pt idx="1">
                  <c:v>Completed</c:v>
                </c:pt>
                <c:pt idx="2">
                  <c:v>Lost</c:v>
                </c:pt>
                <c:pt idx="3">
                  <c:v>Held Up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56.0</c:v>
                </c:pt>
                <c:pt idx="1">
                  <c:v>53.0</c:v>
                </c:pt>
                <c:pt idx="2">
                  <c:v>12.0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Current Status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D9EAF7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C00000"/>
              </a:solidFill>
            </c:spPr>
          </c:dPt>
          <c:cat>
            <c:strRef>
              <c:f>Sheet1!$A$2:$A$6</c:f>
              <c:strCache>
                <c:ptCount val="5"/>
                <c:pt idx="0">
                  <c:v>Completed</c:v>
                </c:pt>
                <c:pt idx="1">
                  <c:v>Active</c:v>
                </c:pt>
                <c:pt idx="2">
                  <c:v>Yet To Start</c:v>
                </c:pt>
                <c:pt idx="3">
                  <c:v>Held Up</c:v>
                </c:pt>
                <c:pt idx="4">
                  <c:v>Lost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113</c:v>
                </c:pt>
                <c:pt idx="1">
                  <c:v>34</c:v>
                </c:pt>
                <c:pt idx="2">
                  <c:v>5</c:v>
                </c:pt>
                <c:pt idx="3">
                  <c:v>0</c:v>
                </c:pt>
                <c:pt idx="4">
                  <c:v>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Additions, Completions &amp; Closing Pipeline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Additions</c:v>
                </c:pt>
              </c:strCache>
            </c:strRef>
          </c:tx>
          <c:spPr>
            <a:ln>
              <a:solidFill>
                <a:srgbClr val="ED7D31"/>
              </a:solidFill>
            </a:ln>
          </c:spPr>
          <c:cat>
            <c:strRef>
              <c:f>Sheet1!$A$2:$A$13</c:f>
              <c:strCache>
                <c:ptCount val="12"/>
                <c:pt idx="0">
                  <c:v>2025-10</c:v>
                </c:pt>
                <c:pt idx="1">
                  <c:v>2025-11</c:v>
                </c:pt>
                <c:pt idx="2">
                  <c:v>2025-12</c:v>
                </c:pt>
                <c:pt idx="3">
                  <c:v>2026-01</c:v>
                </c:pt>
                <c:pt idx="4">
                  <c:v>2026-02</c:v>
                </c:pt>
                <c:pt idx="5">
                  <c:v>2026-03</c:v>
                </c:pt>
                <c:pt idx="6">
                  <c:v>2026-04</c:v>
                </c:pt>
                <c:pt idx="7">
                  <c:v>2026-05</c:v>
                </c:pt>
                <c:pt idx="8">
                  <c:v>2026-06</c:v>
                </c:pt>
                <c:pt idx="9">
                  <c:v>2026-07</c:v>
                </c:pt>
                <c:pt idx="10">
                  <c:v>2026-08</c:v>
                </c:pt>
                <c:pt idx="11">
                  <c:v>2026-09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</c:v>
                </c:pt>
                <c:pt idx="1">
                  <c:v>10</c:v>
                </c:pt>
                <c:pt idx="2">
                  <c:v>2</c:v>
                </c:pt>
                <c:pt idx="3">
                  <c:v>7</c:v>
                </c:pt>
                <c:pt idx="4">
                  <c:v>8</c:v>
                </c:pt>
                <c:pt idx="5">
                  <c:v>2</c:v>
                </c:pt>
                <c:pt idx="6">
                  <c:v>6</c:v>
                </c:pt>
                <c:pt idx="7">
                  <c:v>13</c:v>
                </c:pt>
                <c:pt idx="8">
                  <c:v>12</c:v>
                </c:pt>
                <c:pt idx="9">
                  <c:v>3</c:v>
                </c:pt>
                <c:pt idx="10">
                  <c:v>5</c:v>
                </c:pt>
                <c:pt idx="11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Completed</c:v>
                </c:pt>
              </c:strCache>
            </c:strRef>
          </c:tx>
          <c:spPr>
            <a:ln>
              <a:solidFill>
                <a:srgbClr val="D9EAF7"/>
              </a:solidFill>
            </a:ln>
          </c:spPr>
          <c:cat>
            <c:strRef>
              <c:f>Sheet1!$A$2:$A$13</c:f>
              <c:strCache>
                <c:ptCount val="12"/>
                <c:pt idx="0">
                  <c:v>2025-10</c:v>
                </c:pt>
                <c:pt idx="1">
                  <c:v>2025-11</c:v>
                </c:pt>
                <c:pt idx="2">
                  <c:v>2025-12</c:v>
                </c:pt>
                <c:pt idx="3">
                  <c:v>2026-01</c:v>
                </c:pt>
                <c:pt idx="4">
                  <c:v>2026-02</c:v>
                </c:pt>
                <c:pt idx="5">
                  <c:v>2026-03</c:v>
                </c:pt>
                <c:pt idx="6">
                  <c:v>2026-04</c:v>
                </c:pt>
                <c:pt idx="7">
                  <c:v>2026-05</c:v>
                </c:pt>
                <c:pt idx="8">
                  <c:v>2026-06</c:v>
                </c:pt>
                <c:pt idx="9">
                  <c:v>2026-07</c:v>
                </c:pt>
                <c:pt idx="10">
                  <c:v>2026-08</c:v>
                </c:pt>
                <c:pt idx="11">
                  <c:v>2026-09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</c:v>
                </c:pt>
                <c:pt idx="1">
                  <c:v>2</c:v>
                </c:pt>
                <c:pt idx="2">
                  <c:v>0</c:v>
                </c:pt>
                <c:pt idx="3">
                  <c:v>9</c:v>
                </c:pt>
                <c:pt idx="4">
                  <c:v>5</c:v>
                </c:pt>
                <c:pt idx="5">
                  <c:v>12</c:v>
                </c:pt>
                <c:pt idx="6">
                  <c:v>13</c:v>
                </c:pt>
                <c:pt idx="7">
                  <c:v>5</c:v>
                </c:pt>
                <c:pt idx="8">
                  <c:v>0</c:v>
                </c:pt>
                <c:pt idx="9">
                  <c:v>7</c:v>
                </c:pt>
                <c:pt idx="10">
                  <c:v>2</c:v>
                </c:pt>
                <c:pt idx="11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Closing</c:v>
                </c:pt>
              </c:strCache>
            </c:strRef>
          </c:tx>
          <c:spPr>
            <a:ln>
              <a:solidFill>
                <a:srgbClr val="1F4E78"/>
              </a:solidFill>
            </a:ln>
          </c:spPr>
          <c:cat>
            <c:strRef>
              <c:f>Sheet1!$A$2:$A$13</c:f>
              <c:strCache>
                <c:ptCount val="12"/>
                <c:pt idx="0">
                  <c:v>2025-10</c:v>
                </c:pt>
                <c:pt idx="1">
                  <c:v>2025-11</c:v>
                </c:pt>
                <c:pt idx="2">
                  <c:v>2025-12</c:v>
                </c:pt>
                <c:pt idx="3">
                  <c:v>2026-01</c:v>
                </c:pt>
                <c:pt idx="4">
                  <c:v>2026-02</c:v>
                </c:pt>
                <c:pt idx="5">
                  <c:v>2026-03</c:v>
                </c:pt>
                <c:pt idx="6">
                  <c:v>2026-04</c:v>
                </c:pt>
                <c:pt idx="7">
                  <c:v>2026-05</c:v>
                </c:pt>
                <c:pt idx="8">
                  <c:v>2026-06</c:v>
                </c:pt>
                <c:pt idx="9">
                  <c:v>2026-07</c:v>
                </c:pt>
                <c:pt idx="10">
                  <c:v>2026-08</c:v>
                </c:pt>
                <c:pt idx="11">
                  <c:v>2026-09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33</c:v>
                </c:pt>
                <c:pt idx="1">
                  <c:v>40</c:v>
                </c:pt>
                <c:pt idx="2">
                  <c:v>42</c:v>
                </c:pt>
                <c:pt idx="3">
                  <c:v>39</c:v>
                </c:pt>
                <c:pt idx="4">
                  <c:v>42</c:v>
                </c:pt>
                <c:pt idx="5">
                  <c:v>30</c:v>
                </c:pt>
                <c:pt idx="6">
                  <c:v>19</c:v>
                </c:pt>
                <c:pt idx="7">
                  <c:v>27</c:v>
                </c:pt>
                <c:pt idx="8">
                  <c:v>39</c:v>
                </c:pt>
                <c:pt idx="9">
                  <c:v>33</c:v>
                </c:pt>
                <c:pt idx="10">
                  <c:v>33</c:v>
                </c:pt>
                <c:pt idx="11">
                  <c:v>39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Portfolio Mix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Allocation</c:v>
                </c:pt>
                <c:pt idx="1">
                  <c:v>Escalation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</c:v>
                </c:pt>
                <c:pt idx="1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9144000" cy="11887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4E78"/>
                </a:solidFill>
              </a:defRPr>
            </a:pPr>
            <a:r>
              <a:t>PROJECT TRACKER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60"/>
                </a:solidFill>
              </a:defRPr>
            </a:pPr>
            <a:r>
              <a:t>Management Review &amp; 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8"/>
                </a:solidFill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60"/>
                </a:solidFill>
              </a:defRPr>
            </a:pPr>
            <a:r>
              <a:t>Prepared for Monthly Business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175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Total Projects</a:t>
            </a:r>
            <a:br/>
            <a:r>
              <a:t>Since Jan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73152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64.6%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Completion Rate</a:t>
            </a:r>
            <a:br/>
            <a:r>
              <a:t>113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960120"/>
            <a:ext cx="73152" cy="1005840"/>
          </a:xfrm>
          <a:prstGeom prst="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39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Current Pipeline</a:t>
            </a:r>
            <a:br/>
            <a:r>
              <a:t>Active + Yet to 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960120"/>
            <a:ext cx="73152" cy="100584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0" y="960120"/>
            <a:ext cx="1737360" cy="100584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23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Lost Projects</a:t>
            </a:r>
            <a:br/>
            <a:r>
              <a:t>13.1% Loss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960120"/>
            <a:ext cx="73152" cy="100584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560320"/>
            <a:ext cx="7772400" cy="164592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560320"/>
            <a:ext cx="73152" cy="16459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651760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KEY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971800"/>
            <a:ext cx="7452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Total tracked project base is 175 as of August 2026.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Completion rate is 64.6%, with 113 completed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Current active pipeline is 39 projects; 0 projects are held up.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August closing balance is 33 after 5 additions and 2 completions.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YEAR ON YEAR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56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Additions</a:t>
            </a:r>
            <a:br/>
            <a:r>
              <a:t>YoY -35.6%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68680"/>
            <a:ext cx="73152" cy="9601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53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Completed</a:t>
            </a:r>
            <a:br/>
            <a:r>
              <a:t>YoY +35.9%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868680"/>
            <a:ext cx="73152" cy="960120"/>
          </a:xfrm>
          <a:prstGeom prst="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6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12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Lost</a:t>
            </a:r>
            <a:br/>
            <a:r>
              <a:t>YoY +33.3%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868680"/>
            <a:ext cx="73152" cy="9601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868680"/>
            <a:ext cx="169164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39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Open Pipeline</a:t>
            </a:r>
            <a:br/>
            <a:r>
              <a:t>YoY +875.0%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868680"/>
            <a:ext cx="73152" cy="9601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94360" y="2057400"/>
          <a:ext cx="512064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989320" y="1920240"/>
            <a:ext cx="2743200" cy="265176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920240"/>
            <a:ext cx="73152" cy="265176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20116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MANAGEMENT 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331720"/>
            <a:ext cx="2423160" cy="2148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August 2026 portfolio has 175 tracked projects with 113 completed.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Same-period additions are down 35.6% versus last year; pipeline creation needs management focus.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Same-period completions are up 35.9%; delivery performance is improving.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Current completion rate is 64.6%; open pipeline is 39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39 completed-client follow-ups are scheduled for this month to validate usage and capture issues.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PROJECT STATUS BREAKDOWN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960120"/>
          <a:ext cx="38404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892040" y="1097280"/>
            <a:ext cx="3611880" cy="28346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92040" y="1097280"/>
            <a:ext cx="73152" cy="283464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56631" y="11887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STATUS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7" y="1508760"/>
            <a:ext cx="329184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113 projects completed and 23 lost.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34 active projects require delivery follow-through.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5 projects are yet to start and should be planned for September.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0 held-up projects need management intervention.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MONTHLY PERFORMANCE TRENDS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914400"/>
          <a:ext cx="548640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263640" y="960120"/>
            <a:ext cx="2514600" cy="32918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960120"/>
            <a:ext cx="73152" cy="3291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1" y="105156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4807" y="1371600"/>
            <a:ext cx="219456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August added 5 projects against 2 completions.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Closing balance moved from 33 to 33.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September delivery planning should focus on quick starts, owners, and ageing items.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Sustained completions from older projects continue to reduce long-running backlog.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PROJECT TYPE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3474720" cy="1645920"/>
          </a:xfrm>
          <a:prstGeom prst="round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25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</a:defRPr>
            </a:pPr>
            <a:r>
              <a:t>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1F1F"/>
                </a:solidFill>
              </a:defRPr>
            </a:pPr>
            <a:r>
              <a:t>Total: 87 (49.7%)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06060"/>
                </a:solidFill>
              </a:defRPr>
            </a:pPr>
            <a:r>
              <a:t>Portfolio contribution in current project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143000"/>
            <a:ext cx="3474720" cy="1645920"/>
          </a:xfrm>
          <a:prstGeom prst="round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25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4E78"/>
                </a:solidFill>
              </a:defRPr>
            </a:pPr>
            <a:r>
              <a:t>ESCALATION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7830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1F1F"/>
                </a:solidFill>
              </a:defRPr>
            </a:pPr>
            <a:r>
              <a:t>Total: 88 (50.3%)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48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06060"/>
                </a:solidFill>
              </a:defRPr>
            </a:pPr>
            <a:r>
              <a:t>Portfolio contribution in current project base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057400" y="3246120"/>
          <a:ext cx="4937760" cy="1325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AUGUST 2026 PERFORMANCE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175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Total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73152" cy="86868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48840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113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914400"/>
            <a:ext cx="73152" cy="868680"/>
          </a:xfrm>
          <a:prstGeom prst="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86200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34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Active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914400"/>
            <a:ext cx="73152" cy="86868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59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5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Yet To 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59" y="914400"/>
            <a:ext cx="73152" cy="86868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60919" y="914400"/>
            <a:ext cx="141732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F4E78"/>
                </a:solidFill>
              </a:defRPr>
            </a:pPr>
            <a:r>
              <a:t>0</a:t>
            </a:r>
          </a:p>
          <a:p>
            <a:pPr algn="ctr">
              <a:defRPr sz="900">
                <a:solidFill>
                  <a:srgbClr val="606060"/>
                </a:solidFill>
              </a:defRPr>
            </a:pPr>
            <a:r>
              <a:t>Held 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19" y="914400"/>
            <a:ext cx="73152" cy="86868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240280"/>
            <a:ext cx="7680960" cy="19202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240280"/>
            <a:ext cx="73152" cy="19202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31720"/>
            <a:ext cx="7406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CURRENT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651760"/>
            <a:ext cx="73609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Opening balance: 33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New additions: 5 (4 allocation, 1 escalation)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Completed in August: 2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Held up in August: 0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Closing balance: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CRITICAL INSIGHTS &amp; 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2606040" cy="347472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73152" cy="34747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515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Pipeline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71600"/>
            <a:ext cx="228600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Open pipeline is 39 projects: 34 active and 5 yet to start.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0 held-up project(s) need blocker review and revised action plan.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39 completed-client follow-ups are planned for August.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960120"/>
            <a:ext cx="2606040" cy="347472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960120"/>
            <a:ext cx="73152" cy="3474720"/>
          </a:xfrm>
          <a:prstGeom prst="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0515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Client 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371600"/>
            <a:ext cx="228600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Completion rate is 64.6%; completed base is 113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Use quarterly follow-up outcomes to identify usage issues, support gaps, and upsell opportunities.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Weekly project updates should be sent from the mail-merge workbook after PM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960120"/>
            <a:ext cx="2606040" cy="347472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960120"/>
            <a:ext cx="73152" cy="34747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05156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PM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371600"/>
            <a:ext cx="228600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Prioritize ageing active projects with clear owner/date/action.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Keep alias review updated so SCH remarks map to the correct tracker project.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Prepare September start plan for yet-to-start projects.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2606040" cy="32918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73152" cy="329184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05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Maintain Delivery Excellence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325880"/>
            <a:ext cx="228600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113 completed projects show strong delivery base.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39 completed-client follow-ups are planned for August.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Continue weekly review of ageing active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Use quarterly follow-ups to confirm usage, challenges, support needs, and upsell scope.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914400"/>
            <a:ext cx="2606040" cy="32918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914400"/>
            <a:ext cx="73152" cy="329184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005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Pipeline Development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325880"/>
            <a:ext cx="228600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Current open pipeline is 39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Plan September starts for yet-to-start projects.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Assign owners and dates before month-end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914400"/>
            <a:ext cx="2606040" cy="3291840"/>
          </a:xfrm>
          <a:prstGeom prst="rect">
            <a:avLst/>
          </a:prstGeom>
          <a:solidFill>
            <a:srgbClr val="F3F6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914400"/>
            <a:ext cx="73152" cy="329184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005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8"/>
                </a:solidFill>
              </a:defRPr>
            </a:pPr>
            <a:r>
              <a:t>Resolve Held-Up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325880"/>
            <a:ext cx="228600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0 projects are held up and need escalation.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Confirm blockers, client dependency, and revised closure plan.</a:t>
            </a:r>
          </a:p>
          <a:p>
            <a:pPr>
              <a:spcAft>
                <a:spcPts val="400"/>
              </a:spcAft>
              <a:defRPr sz="950">
                <a:solidFill>
                  <a:srgbClr val="1F1F1F"/>
                </a:solidFill>
              </a:defRPr>
            </a:pPr>
            <a:r>
              <a:t>Track held-up projects separately until closure.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4E78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06060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</a:defRPr>
            </a:pPr>
            <a:r>
              <a:t>August 2026 Project Tracker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