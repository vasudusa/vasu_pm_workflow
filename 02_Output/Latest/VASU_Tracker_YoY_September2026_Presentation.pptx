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Same-Period Performance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06060"/>
            </a:solidFill>
          </c:spPr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94.0</c:v>
                </c:pt>
                <c:pt idx="1">
                  <c:v>42.0</c:v>
                </c:pt>
                <c:pt idx="2">
                  <c:v>9.0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4E78"/>
            </a:solidFill>
          </c:spPr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68.0</c:v>
                </c:pt>
                <c:pt idx="1">
                  <c:v>58.0</c:v>
                </c:pt>
                <c:pt idx="2">
                  <c:v>12.0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Current Status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D9EAF7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Active</c:v>
                </c:pt>
                <c:pt idx="2">
                  <c:v>Yet To Start</c:v>
                </c:pt>
                <c:pt idx="3">
                  <c:v>Held Up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</c:v>
                </c:pt>
                <c:pt idx="1">
                  <c:v>38</c:v>
                </c:pt>
                <c:pt idx="2">
                  <c:v>2</c:v>
                </c:pt>
                <c:pt idx="3">
                  <c:v>0</c:v>
                </c:pt>
                <c:pt idx="4">
                  <c:v>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Additions, Completions &amp; Closing Pipeline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Additions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10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2</c:v>
                </c:pt>
                <c:pt idx="6">
                  <c:v>6</c:v>
                </c:pt>
                <c:pt idx="7">
                  <c:v>13</c:v>
                </c:pt>
                <c:pt idx="8">
                  <c:v>12</c:v>
                </c:pt>
                <c:pt idx="9">
                  <c:v>3</c:v>
                </c:pt>
                <c:pt idx="10">
                  <c:v>5</c:v>
                </c:pt>
                <c:pt idx="11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ln>
              <a:solidFill>
                <a:srgbClr val="D9EAF7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</c:v>
                </c:pt>
                <c:pt idx="1">
                  <c:v>2</c:v>
                </c:pt>
                <c:pt idx="2">
                  <c:v>0</c:v>
                </c:pt>
                <c:pt idx="3">
                  <c:v>9</c:v>
                </c:pt>
                <c:pt idx="4">
                  <c:v>5</c:v>
                </c:pt>
                <c:pt idx="5">
                  <c:v>12</c:v>
                </c:pt>
                <c:pt idx="6">
                  <c:v>13</c:v>
                </c:pt>
                <c:pt idx="7">
                  <c:v>5</c:v>
                </c:pt>
                <c:pt idx="8">
                  <c:v>0</c:v>
                </c:pt>
                <c:pt idx="9">
                  <c:v>7</c:v>
                </c:pt>
                <c:pt idx="10">
                  <c:v>2</c:v>
                </c:pt>
                <c:pt idx="11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Closing</c:v>
                </c:pt>
              </c:strCache>
            </c:strRef>
          </c:tx>
          <c:spPr>
            <a:ln>
              <a:solidFill>
                <a:srgbClr val="1F4E78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33</c:v>
                </c:pt>
                <c:pt idx="1">
                  <c:v>40</c:v>
                </c:pt>
                <c:pt idx="2">
                  <c:v>42</c:v>
                </c:pt>
                <c:pt idx="3">
                  <c:v>39</c:v>
                </c:pt>
                <c:pt idx="4">
                  <c:v>42</c:v>
                </c:pt>
                <c:pt idx="5">
                  <c:v>30</c:v>
                </c:pt>
                <c:pt idx="6">
                  <c:v>19</c:v>
                </c:pt>
                <c:pt idx="7">
                  <c:v>27</c:v>
                </c:pt>
                <c:pt idx="8">
                  <c:v>39</c:v>
                </c:pt>
                <c:pt idx="9">
                  <c:v>33</c:v>
                </c:pt>
                <c:pt idx="10">
                  <c:v>33</c:v>
                </c:pt>
                <c:pt idx="11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Portfolio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Allocation</c:v>
                </c:pt>
                <c:pt idx="1">
                  <c:v>Escalation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9144000" cy="1188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PROJECT TRACKER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</a:defRPr>
            </a:pPr>
            <a:r>
              <a:t>Management Review &amp;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Prepared for Monthly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181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  <a:br/>
            <a:r>
              <a:t>Since Jan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73152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65.2%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Completion Rate</a:t>
            </a:r>
            <a:br/>
            <a:r>
              <a:t>118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960120"/>
            <a:ext cx="73152" cy="100584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40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Current Pipeline</a:t>
            </a:r>
            <a:br/>
            <a:r>
              <a:t>Active + Yet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960120"/>
            <a:ext cx="73152" cy="1005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 Projects</a:t>
            </a:r>
            <a:br/>
            <a:r>
              <a:t>12.7% Loss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960120"/>
            <a:ext cx="73152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7772400" cy="16459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16459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5176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71800"/>
            <a:ext cx="7452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Total tracked project base is 181 as of September 2026.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65.2%, with 118 completed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active pipeline is 40 projects; 0 projects are held up.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closing balance is 40 after 12 additions and 5 completions.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YEAR ON YEAR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Additions</a:t>
            </a:r>
            <a:br/>
            <a:r>
              <a:t>YoY -27.7%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73152" cy="9601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  <a:br/>
            <a:r>
              <a:t>YoY +38.1%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868680"/>
            <a:ext cx="73152" cy="9601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</a:t>
            </a:r>
            <a:br/>
            <a:r>
              <a:t>YoY +33.3%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868680"/>
            <a:ext cx="73152" cy="9601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40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Open Pipeline</a:t>
            </a:r>
            <a:br/>
            <a:r>
              <a:t>YoY +1233.3%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868680"/>
            <a:ext cx="73152" cy="9601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" y="2057400"/>
          <a:ext cx="51206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989320" y="1920240"/>
            <a:ext cx="2743200" cy="265176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73152" cy="26517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MANAGEMENT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31720"/>
            <a:ext cx="242316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2026 portfolio has 181 tracked projects with 118 completed.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additions are down 27.7% versus last year; pipeline creation needs management focus.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completions are up 38.1%; delivery performance is improving.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completion rate is 65.2%; open pipeline is 40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37 completed-client follow-ups are scheduled for this month to validate usage and capture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STATUS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960120"/>
          <a:ext cx="3840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892040" y="1097280"/>
            <a:ext cx="3611880" cy="28346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92040" y="1097280"/>
            <a:ext cx="73152" cy="28346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6631" y="11887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STATUS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7" y="1508760"/>
            <a:ext cx="32918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118 projects completed and 23 lost.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38 active projects require delivery follow-through.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2 projects are yet to start and should be planned for October.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projects need management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MONTHLY PERFORMANCE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914400"/>
          <a:ext cx="548640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63640" y="960120"/>
            <a:ext cx="251460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73152" cy="3291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0515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371600"/>
            <a:ext cx="21945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added 12 projects against 5 completions.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 moved from 33 to 40.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October delivery planning should focus on quick starts, owners, and ageing items.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Sustained completions from older projects continue to reduce long-running backlog.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TYPE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</a:defRPr>
            </a:pPr>
            <a:r>
              <a:t>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90 (49.7%)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8"/>
                </a:solidFill>
              </a:defRPr>
            </a:pPr>
            <a: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91 (50.3%)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057400" y="3246120"/>
          <a:ext cx="493776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SEPTEMBER 2026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181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73152" cy="86868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118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14400"/>
            <a:ext cx="73152" cy="86868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38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914400"/>
            <a:ext cx="73152" cy="8686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5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Yet To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914400"/>
            <a:ext cx="73152" cy="8686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1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Held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914400"/>
            <a:ext cx="73152" cy="8686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7680960" cy="19202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73152" cy="19202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3172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651760"/>
            <a:ext cx="7360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Opening balance: 33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New additions: 12 (8 allocation, 4 escalation)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Completed in September: 5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Held up in September: 0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balance: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CRITICAL INSIGHTS &amp;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73152" cy="3474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Pipeline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 pipeline is 40 projects: 38 active and 2 yet to start.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project(s) need blocker review and revised action plan.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37 completed-client follow-ups are planned for September.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960120"/>
            <a:ext cx="73152" cy="34747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Client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65.2%; completed base is 118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Use quarterly follow-up outcomes to identify usage issues, support gaps, and upsell opportunities.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Weekly project updates should be sent from the mail-merge workbook after PM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60120"/>
            <a:ext cx="73152" cy="3474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PM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Prioritize ageing active projects with clear owner/date/action.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Keep alias review updated so SCH remarks map to the correct tracker project.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Prepare October start plan for yet-to-start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73152" cy="3291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Maintain Delivery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118 completed projects show strong delivery base.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37 completed-client follow-ups are planned for September.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Continue weekly review of ageing active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Use quarterly follow-ups to confirm usage, challenges, support needs, and upsell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73152" cy="32918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Pipeline Development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open pipeline is 40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Plan October starts for yet-to-start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Assign owners and dates before month-end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73152" cy="3291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Resolve Held-Up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projects are held up and need escalation.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Confirm blockers, client dependency, and revised closure plan.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Track held-up projects separately until 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September 2026 Project Tracker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